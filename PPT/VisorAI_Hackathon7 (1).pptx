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9" r:id="rId13"/>
    <p:sldId id="270" r:id="rId14"/>
    <p:sldId id="271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9" r:id="rId23"/>
    <p:sldId id="286" r:id="rId24"/>
    <p:sldId id="287" r:id="rId25"/>
    <p:sldId id="288" r:id="rId26"/>
    <p:sldId id="281" r:id="rId27"/>
    <p:sldId id="282" r:id="rId28"/>
    <p:sldId id="285" r:id="rId2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067125-2CF6-48FB-B6FF-FA99ED09DD03}" v="1" dt="2026-06-04T16:38:14.7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4546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4572000" cy="4572000"/>
          </a:xfrm>
          <a:prstGeom prst="ellipse">
            <a:avLst/>
          </a:prstGeom>
          <a:solidFill>
            <a:srgbClr val="001B33"/>
          </a:solidFill>
          <a:ln w="12700">
            <a:solidFill>
              <a:srgbClr val="001B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400800" y="1828800"/>
            <a:ext cx="3657600" cy="3657600"/>
          </a:xfrm>
          <a:prstGeom prst="ellipse">
            <a:avLst/>
          </a:prstGeom>
          <a:solidFill>
            <a:srgbClr val="001B33"/>
          </a:solidFill>
          <a:ln w="12700">
            <a:solidFill>
              <a:srgbClr val="001B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228600"/>
            <a:ext cx="2194560" cy="411480"/>
          </a:xfrm>
          <a:prstGeom prst="rect">
            <a:avLst/>
          </a:prstGeom>
          <a:solidFill>
            <a:srgbClr val="1E4FBF"/>
          </a:solidFill>
          <a:ln w="12700">
            <a:solidFill>
              <a:srgbClr val="00D4F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228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7.0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kern="0" spc="12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VISORAI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Offline Facial Recognition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Liveness Detection System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Remote Field Operations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00400" y="3703320"/>
            <a:ext cx="274320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Datalake 3.0  •  June 2026  •  J. Madhan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5093208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Authentication is Broken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4023360" cy="3291840"/>
          </a:xfrm>
          <a:prstGeom prst="rect">
            <a:avLst/>
          </a:prstGeom>
          <a:solidFill>
            <a:srgbClr val="180818"/>
          </a:solidFill>
          <a:ln w="1905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4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THE PROBLEMS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E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Remote field teams cannot verify identity securely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56032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E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Zero internet connectivity in many field locations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6324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E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Real-time, reliable authentication is required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56616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E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Attendance fraud prevention is critical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06908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E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Limited device capabilities in the field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1508760"/>
            <a:ext cx="4023360" cy="3291840"/>
          </a:xfrm>
          <a:prstGeom prst="rect">
            <a:avLst/>
          </a:prstGeom>
          <a:solidFill>
            <a:srgbClr val="091C0F"/>
          </a:solidFill>
          <a:ln w="1905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029200" y="15727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VISORAI SOLVES IT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205740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E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Offline-first AI that works with zero connectivity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256032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E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Full functionality — registration, auth &amp; attendance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306324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E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150ms per frame — exceeds 1000ms requirement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356616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E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98% anti-spoofing with 5-challenge liveness system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406908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E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Runs on any 3GB RAM Android/iOS device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15968" y="2926080"/>
            <a:ext cx="512064" cy="3657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315968" y="2926080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50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VisorAI — Production-Ready &amp; Engineered for the Real World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2743200" cy="1463040"/>
          </a:xfrm>
          <a:prstGeom prst="rect">
            <a:avLst/>
          </a:prstGeom>
          <a:solidFill>
            <a:srgbClr val="0D1F3C"/>
          </a:solidFill>
          <a:ln w="1905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1645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📡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11480" y="2103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Offline-First Architecture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4688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with ZERO internet connection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27832" y="1508760"/>
            <a:ext cx="2743200" cy="1463040"/>
          </a:xfrm>
          <a:prstGeom prst="rect">
            <a:avLst/>
          </a:prstGeom>
          <a:solidFill>
            <a:srgbClr val="0D1F3C"/>
          </a:solidFill>
          <a:ln w="1905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364992" y="1645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364992" y="2103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 AI Models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64992" y="24688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6.49 MB total — 67% under 20 MB limit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81344" y="1508760"/>
            <a:ext cx="2743200" cy="1463040"/>
          </a:xfrm>
          <a:prstGeom prst="rect">
            <a:avLst/>
          </a:prstGeom>
          <a:solidFill>
            <a:srgbClr val="0D1F3C"/>
          </a:solidFill>
          <a:ln w="1905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318504" y="1645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318504" y="2103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Processing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18504" y="24688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150ms per frame on standard devices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154680"/>
            <a:ext cx="2743200" cy="1463040"/>
          </a:xfrm>
          <a:prstGeom prst="rect">
            <a:avLst/>
          </a:prstGeom>
          <a:solidFill>
            <a:srgbClr val="0D1F3C"/>
          </a:solidFill>
          <a:ln w="1905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11480" y="3291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11480" y="3749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Military-Grade Security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" y="41148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AES-256 encryption + face embeddings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27832" y="3154680"/>
            <a:ext cx="2743200" cy="1463040"/>
          </a:xfrm>
          <a:prstGeom prst="rect">
            <a:avLst/>
          </a:prstGeom>
          <a:solidFill>
            <a:srgbClr val="0D1F3C"/>
          </a:solidFill>
          <a:ln w="1905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364992" y="3291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👁️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364992" y="3749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Liveness Detection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64992" y="41148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5-challenge anti-spoofing system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81344" y="3154680"/>
            <a:ext cx="2743200" cy="1463040"/>
          </a:xfrm>
          <a:prstGeom prst="rect">
            <a:avLst/>
          </a:prstGeom>
          <a:solidFill>
            <a:srgbClr val="0D1F3C"/>
          </a:solidFill>
          <a:ln w="1905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318504" y="3291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318504" y="3749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Data Isolation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18504" y="41148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user sees only their own data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Four-Layer System Architecture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8595360" cy="749808"/>
          </a:xfrm>
          <a:prstGeom prst="rect">
            <a:avLst/>
          </a:prstGeom>
          <a:solidFill>
            <a:srgbClr val="1A3A6B"/>
          </a:solidFill>
          <a:ln w="254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1463040"/>
            <a:ext cx="1280160" cy="7498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4320" y="1463040"/>
            <a:ext cx="1280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0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91640" y="15361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 Frontend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691640" y="18470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• UI • State Management • Android / iOS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89120" y="2212848"/>
            <a:ext cx="457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↕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331720"/>
            <a:ext cx="8595360" cy="749808"/>
          </a:xfrm>
          <a:prstGeom prst="rect">
            <a:avLst/>
          </a:prstGeom>
          <a:solidFill>
            <a:srgbClr val="0D3B2E"/>
          </a:solidFill>
          <a:ln w="254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74320" y="2331720"/>
            <a:ext cx="1280160" cy="74980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74320" y="2331720"/>
            <a:ext cx="1280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0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91640" y="24048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ML/AI Engine (TensorFlow Lite)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691640" y="27157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BlazeFace (0.4MB) • MobileFaceNet (5.0MB) • Landmarks (1.1MB)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0" y="3081528"/>
            <a:ext cx="457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A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↕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200400"/>
            <a:ext cx="8595360" cy="749808"/>
          </a:xfrm>
          <a:prstGeom prst="rect">
            <a:avLst/>
          </a:prstGeom>
          <a:solidFill>
            <a:srgbClr val="2B1A00"/>
          </a:solidFill>
          <a:ln w="25400">
            <a:solidFill>
              <a:srgbClr val="FFA7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274320" y="3200400"/>
            <a:ext cx="1280160" cy="749808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74320" y="3200400"/>
            <a:ext cx="1280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0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691640" y="32735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Encrypted Storage (SQLCipher)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691640" y="35844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Accounts • Face Embeddings • Attendance Records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89120" y="3950208"/>
            <a:ext cx="457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B47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↕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4069080"/>
            <a:ext cx="8595360" cy="749808"/>
          </a:xfrm>
          <a:prstGeom prst="rect">
            <a:avLst/>
          </a:prstGeom>
          <a:solidFill>
            <a:srgbClr val="1A0D2B"/>
          </a:solidFill>
          <a:ln w="25400">
            <a:solidFill>
              <a:srgbClr val="AB47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274320" y="4069080"/>
            <a:ext cx="1280160" cy="749808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274320" y="4069080"/>
            <a:ext cx="1280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0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691640" y="41422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Cloud (When Online)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691640" y="44531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 • Lambda • DynamoDB • S3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MODELS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Lightweight AI Models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2788920" cy="2560320"/>
          </a:xfrm>
          <a:prstGeom prst="rect">
            <a:avLst/>
          </a:prstGeom>
          <a:solidFill>
            <a:srgbClr val="1A3A6B"/>
          </a:solidFill>
          <a:ln w="1905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1463040"/>
            <a:ext cx="2788920" cy="4572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149047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0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BLAZEFACE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0574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80160" y="2057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 MB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5146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80160" y="2514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Detection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29718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80160" y="2971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~50ms / frame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34290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80160" y="3429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98%+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27832" y="1463040"/>
            <a:ext cx="2788920" cy="2560320"/>
          </a:xfrm>
          <a:prstGeom prst="rect">
            <a:avLst/>
          </a:prstGeom>
          <a:solidFill>
            <a:srgbClr val="0D3B2E"/>
          </a:solidFill>
          <a:ln w="1905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227832" y="1463040"/>
            <a:ext cx="2788920" cy="4572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319272" y="149047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0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MOBILEFACENET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64992" y="20574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33672" y="2057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 MB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64992" y="25146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233672" y="2514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Embedding (128D)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64992" y="29718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233672" y="2971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~60ms / frame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64992" y="34290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233672" y="3429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95%+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81344" y="1463040"/>
            <a:ext cx="2788920" cy="2560320"/>
          </a:xfrm>
          <a:prstGeom prst="rect">
            <a:avLst/>
          </a:prstGeom>
          <a:solidFill>
            <a:srgbClr val="2B1A00"/>
          </a:solidFill>
          <a:ln w="1905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6181344" y="1463040"/>
            <a:ext cx="2788920" cy="4572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272784" y="149047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0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LANDMARKS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318504" y="20574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187184" y="2057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 MB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18504" y="25146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Purpose: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187184" y="2514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Liveness Detection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318504" y="29718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Speed: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187184" y="2971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~40ms / frame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18504" y="34290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Accuracy: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187184" y="3429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 landmarks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74320" y="4160520"/>
            <a:ext cx="8595360" cy="685800"/>
          </a:xfrm>
          <a:prstGeom prst="rect">
            <a:avLst/>
          </a:prstGeom>
          <a:solidFill>
            <a:srgbClr val="091C0F"/>
          </a:solidFill>
          <a:ln w="1905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548640" y="4251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6.49 MB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3474720" y="4251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 UNDER the 20 MB requirement  ✓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PIPELINE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Recognition Pipeline — 150ms End-to-End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737360"/>
            <a:ext cx="1051560" cy="1005840"/>
          </a:xfrm>
          <a:prstGeom prst="rect">
            <a:avLst/>
          </a:prstGeom>
          <a:solidFill>
            <a:srgbClr val="1A3A6B"/>
          </a:solidFill>
          <a:ln w="19050">
            <a:solidFill>
              <a:srgbClr val="00D4F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1783080"/>
            <a:ext cx="10515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Frame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23774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FPS input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389888" y="205740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536192" y="1737360"/>
            <a:ext cx="1051560" cy="1005840"/>
          </a:xfrm>
          <a:prstGeom prst="rect">
            <a:avLst/>
          </a:prstGeom>
          <a:solidFill>
            <a:srgbClr val="0D4D9B"/>
          </a:solidFill>
          <a:ln w="19050">
            <a:solidFill>
              <a:srgbClr val="00D4F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536192" y="1783080"/>
            <a:ext cx="10515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BlazeFace Detection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536192" y="23774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present?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606040" y="205740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52344" y="1737360"/>
            <a:ext cx="1051560" cy="1005840"/>
          </a:xfrm>
          <a:prstGeom prst="rect">
            <a:avLst/>
          </a:prstGeom>
          <a:solidFill>
            <a:srgbClr val="0D6B5B"/>
          </a:solidFill>
          <a:ln w="19050">
            <a:solidFill>
              <a:srgbClr val="00D4F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752344" y="1783080"/>
            <a:ext cx="10515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Landmark Extraction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52344" y="23774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68-point mesh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822192" y="205740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968496" y="1737360"/>
            <a:ext cx="1051560" cy="1005840"/>
          </a:xfrm>
          <a:prstGeom prst="rect">
            <a:avLst/>
          </a:prstGeom>
          <a:solidFill>
            <a:srgbClr val="0D8B3B"/>
          </a:solidFill>
          <a:ln w="19050">
            <a:solidFill>
              <a:srgbClr val="00D4F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968496" y="1783080"/>
            <a:ext cx="10515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Embedding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968496" y="23774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128D vector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038344" y="205740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184648" y="1737360"/>
            <a:ext cx="1051560" cy="1005840"/>
          </a:xfrm>
          <a:prstGeom prst="rect">
            <a:avLst/>
          </a:prstGeom>
          <a:solidFill>
            <a:srgbClr val="7B5D00"/>
          </a:solidFill>
          <a:ln w="19050">
            <a:solidFill>
              <a:srgbClr val="00D4F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184648" y="1783080"/>
            <a:ext cx="10515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Liveness Verify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184648" y="23774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challenges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254496" y="205740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0" y="1737360"/>
            <a:ext cx="1051560" cy="1005840"/>
          </a:xfrm>
          <a:prstGeom prst="rect">
            <a:avLst/>
          </a:prstGeom>
          <a:solidFill>
            <a:srgbClr val="4B1A6B"/>
          </a:solidFill>
          <a:ln w="19050">
            <a:solidFill>
              <a:srgbClr val="00D4F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400800" y="1783080"/>
            <a:ext cx="10515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Matching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0" y="23774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Cosine similarity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470648" y="205740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616952" y="1737360"/>
            <a:ext cx="1051560" cy="1005840"/>
          </a:xfrm>
          <a:prstGeom prst="rect">
            <a:avLst/>
          </a:prstGeom>
          <a:solidFill>
            <a:srgbClr val="0D5B1B"/>
          </a:solidFill>
          <a:ln w="19050">
            <a:solidFill>
              <a:srgbClr val="00D4F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7616952" y="1783080"/>
            <a:ext cx="10515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AUTHENTICATED ✓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616952" y="23774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issued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74320" y="3063240"/>
            <a:ext cx="1554480" cy="1645920"/>
          </a:xfrm>
          <a:prstGeom prst="rect">
            <a:avLst/>
          </a:prstGeom>
          <a:solidFill>
            <a:srgbClr val="0D1F3C"/>
          </a:solidFill>
          <a:ln w="1905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274320" y="33375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150ms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274320" y="39776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Frame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011680" y="3063240"/>
            <a:ext cx="1554480" cy="1645920"/>
          </a:xfrm>
          <a:prstGeom prst="rect">
            <a:avLst/>
          </a:prstGeom>
          <a:solidFill>
            <a:srgbClr val="0D1F3C"/>
          </a:solidFill>
          <a:ln w="1905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2011680" y="33375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FPS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2011680" y="39776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Input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749040" y="3063240"/>
            <a:ext cx="1554480" cy="1645920"/>
          </a:xfrm>
          <a:prstGeom prst="rect">
            <a:avLst/>
          </a:prstGeom>
          <a:solidFill>
            <a:srgbClr val="0D1F3C"/>
          </a:solidFill>
          <a:ln w="1905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3749040" y="33375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128D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3749040" y="39776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Vector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486400" y="3063240"/>
            <a:ext cx="1554480" cy="1645920"/>
          </a:xfrm>
          <a:prstGeom prst="rect">
            <a:avLst/>
          </a:prstGeom>
          <a:solidFill>
            <a:srgbClr val="0D1F3C"/>
          </a:solidFill>
          <a:ln w="1905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5486400" y="33375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5486400" y="39776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Threshold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223760" y="3063240"/>
            <a:ext cx="1554480" cy="1645920"/>
          </a:xfrm>
          <a:prstGeom prst="rect">
            <a:avLst/>
          </a:prstGeom>
          <a:solidFill>
            <a:srgbClr val="0D1F3C"/>
          </a:solidFill>
          <a:ln w="1905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7223760" y="33375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&lt;1s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7223760" y="39776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 Met ✓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OFFLINE-FIRST ARCHITECTURE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Functionality — With or Without Internet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3566160" cy="3337560"/>
          </a:xfrm>
          <a:prstGeom prst="rect">
            <a:avLst/>
          </a:prstGeom>
          <a:solidFill>
            <a:srgbClr val="180818"/>
          </a:solidFill>
          <a:ln w="1905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53619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E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📵  OFFLINE MODE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User Enrollment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49631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Face Authentication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93522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Liveness Detection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37413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Attendance Recording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81304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Dashboard Access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2519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Data Stored Locally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913632" y="2560320"/>
            <a:ext cx="1316736" cy="502920"/>
          </a:xfrm>
          <a:prstGeom prst="rect">
            <a:avLst/>
          </a:prstGeom>
          <a:solidFill>
            <a:srgbClr val="1E4FB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913632" y="2560320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→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913632" y="3090672"/>
            <a:ext cx="1316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when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303520" y="1463040"/>
            <a:ext cx="3566160" cy="3337560"/>
          </a:xfrm>
          <a:prstGeom prst="rect">
            <a:avLst/>
          </a:prstGeom>
          <a:solidFill>
            <a:srgbClr val="091C0F"/>
          </a:solidFill>
          <a:ln w="1905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486400" y="153619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ONLINE MODE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0" y="2057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☁️  Sync to AWS DynamoDB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0" y="249631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☁️  Update Cloud Database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0" y="293522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☁️  Backup Records to S3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0" y="337413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☁️  Sync Attendance Logs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0" y="381304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☁️  Maintain Cloud Copy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0" y="42519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☁️  Multi-device Access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LIVENESS DETECTION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 Spoofing Prevention — Zero Tolerance for Fakes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3931920" cy="3337560"/>
          </a:xfrm>
          <a:prstGeom prst="rect">
            <a:avLst/>
          </a:prstGeom>
          <a:solidFill>
            <a:srgbClr val="1C0808"/>
          </a:solidFill>
          <a:ln w="1905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53619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4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THREAT VECTORS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E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Photo spoofing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56946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E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Recorded video attacks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8152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E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Deepfake injection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59359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E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3D printed masks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105656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E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Screen replay attacks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37760" y="1463040"/>
            <a:ext cx="3931920" cy="3337560"/>
          </a:xfrm>
          <a:prstGeom prst="rect">
            <a:avLst/>
          </a:prstGeom>
          <a:solidFill>
            <a:srgbClr val="08180F"/>
          </a:solidFill>
          <a:ln w="1905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120640" y="153619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 5-CHALLENGE DEFENSE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20640" y="205740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E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Blink — eye closure ratio drop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20640" y="256946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E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Smile — mouth curvature analysis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20640" y="308152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E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Head Turn Left — landmark shift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20640" y="359359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E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Head Turn Right — opposite shift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20640" y="4105656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E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Nod — vertical movement vector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069080" y="2606040"/>
            <a:ext cx="731520" cy="731520"/>
          </a:xfrm>
          <a:prstGeom prst="ellipse">
            <a:avLst/>
          </a:prstGeom>
          <a:solidFill>
            <a:srgbClr val="1E4FBF"/>
          </a:solidFill>
          <a:ln w="254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069080" y="2606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286000" y="4663440"/>
            <a:ext cx="4572000" cy="38404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2286000" y="46634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0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ANTI-SPOOFING ACCURACY: 98.6%   |   FALSE POSITIVE RATE: &lt; 2%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LIVENESS CHALLENGES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Random Challenges — Challenges 1-3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444752"/>
            <a:ext cx="8595360" cy="1078992"/>
          </a:xfrm>
          <a:prstGeom prst="rect">
            <a:avLst/>
          </a:prstGeom>
          <a:solidFill>
            <a:srgbClr val="1A2A6B"/>
          </a:solidFill>
          <a:ln w="1905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20040" y="1527048"/>
            <a:ext cx="896112" cy="89611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20040" y="1527048"/>
            <a:ext cx="8961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50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371600" y="153619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👁️  BLINK DETECTION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19019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Prevents: Still photos, printed images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71600" y="215798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E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Detection: Eye closure ratio drops below 0.25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0" y="179222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&gt; 80%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615184"/>
            <a:ext cx="8595360" cy="1078992"/>
          </a:xfrm>
          <a:prstGeom prst="rect">
            <a:avLst/>
          </a:prstGeom>
          <a:solidFill>
            <a:srgbClr val="0D3B2E"/>
          </a:solidFill>
          <a:ln w="1905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20040" y="2697480"/>
            <a:ext cx="896112" cy="89611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0040" y="2697480"/>
            <a:ext cx="8961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50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371600" y="270662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😊  SMILE DETECTION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30723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Prevents: Unsmiling photos &amp; screenshotss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71600" y="332841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E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Detection: Mouth curvature increases &gt; threshold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0" y="296265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&gt; 80%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785616"/>
            <a:ext cx="8595360" cy="1078992"/>
          </a:xfrm>
          <a:prstGeom prst="rect">
            <a:avLst/>
          </a:prstGeom>
          <a:solidFill>
            <a:srgbClr val="2B1A00"/>
          </a:solidFill>
          <a:ln w="1905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20040" y="3867912"/>
            <a:ext cx="896112" cy="89611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20040" y="3867912"/>
            <a:ext cx="8961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50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371600" y="387705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↩️  HEAD TURN (LEFT)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71600" y="424281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Prevents: 2D photos — requires 3D rotation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371600" y="44988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E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Detection: Landmark positions shift leftward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58000" y="413308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&gt; 80%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LIVENESS CHALLENGES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Random Challenges — Challenges 4-5 + Randomization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444752"/>
            <a:ext cx="8595360" cy="1078992"/>
          </a:xfrm>
          <a:prstGeom prst="rect">
            <a:avLst/>
          </a:prstGeom>
          <a:solidFill>
            <a:srgbClr val="1A0D2B"/>
          </a:solidFill>
          <a:ln w="1905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20040" y="1527048"/>
            <a:ext cx="896112" cy="896112"/>
          </a:xfrm>
          <a:prstGeom prst="ellipse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20040" y="1527048"/>
            <a:ext cx="8961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371600" y="153619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9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↪️  HEAD TURN (RIGHT)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19019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Prevents: Directional bias exploits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71600" y="215798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E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Detection: Opposite landmark shift from #3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0" y="179222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&gt; 70%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615184"/>
            <a:ext cx="8595360" cy="1078992"/>
          </a:xfrm>
          <a:prstGeom prst="rect">
            <a:avLst/>
          </a:prstGeom>
          <a:solidFill>
            <a:srgbClr val="0A1A1A"/>
          </a:solidFill>
          <a:ln w="1905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20040" y="2697480"/>
            <a:ext cx="896112" cy="896112"/>
          </a:xfrm>
          <a:prstGeom prst="ellipse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0040" y="2697480"/>
            <a:ext cx="8961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371600" y="270662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9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⬆️  NOD DETECTION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30723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Prevents: Stationary 3D objects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71600" y="332841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E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Detection: Vertical head movement vector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0" y="296265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&gt; 70%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767328"/>
            <a:ext cx="8595360" cy="1078992"/>
          </a:xfrm>
          <a:prstGeom prst="rect">
            <a:avLst/>
          </a:prstGeom>
          <a:solidFill>
            <a:srgbClr val="091028"/>
          </a:solidFill>
          <a:ln w="1905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48640" y="38404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🎲  RANDOMIZATION ENGINE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418795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challenges randomly selected each session  •  Prevents memorization  •  User never knows the sequence in advance  •  High security through unpredictability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98080" y="38404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98.6%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498080" y="4297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LIVENESS DETECTION — TECHNICAL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 Facial Landmark Analysis at 30 FPS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4114800" cy="3337560"/>
          </a:xfrm>
          <a:prstGeom prst="rect">
            <a:avLst/>
          </a:prstGeom>
          <a:solidFill>
            <a:srgbClr val="0D1F3C"/>
          </a:solidFill>
          <a:ln w="1905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5361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 LANDMARK DISTRIBUTION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Forehead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34640" y="2011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pts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340864"/>
            <a:ext cx="1280160" cy="914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" y="252374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Eye Region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34640" y="252374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pts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852928"/>
            <a:ext cx="1536192" cy="914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57200" y="30358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Eyebrows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34640" y="30358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pts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364992"/>
            <a:ext cx="1024128" cy="914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57200" y="35478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Mouth Region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834640" y="35478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pts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877056"/>
            <a:ext cx="2560320" cy="914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57200" y="405993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Contour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834640" y="405993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pts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389120"/>
            <a:ext cx="2304288" cy="914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572000" y="1463040"/>
            <a:ext cx="4297680" cy="3337560"/>
          </a:xfrm>
          <a:prstGeom prst="rect">
            <a:avLst/>
          </a:prstGeom>
          <a:solidFill>
            <a:srgbClr val="0D1F3C"/>
          </a:solidFill>
          <a:ln w="1905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754880" y="15361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THRESHOLDS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63440" y="2011680"/>
            <a:ext cx="4114800" cy="438912"/>
          </a:xfrm>
          <a:prstGeom prst="rect">
            <a:avLst/>
          </a:prstGeom>
          <a:solidFill>
            <a:srgbClr val="0D1F3C"/>
          </a:solidFill>
          <a:ln w="12700">
            <a:solidFill>
              <a:srgbClr val="09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754880" y="207568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Blink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040880" y="20756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80%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63440" y="2514600"/>
            <a:ext cx="4114800" cy="438912"/>
          </a:xfrm>
          <a:prstGeom prst="rect">
            <a:avLst/>
          </a:prstGeom>
          <a:solidFill>
            <a:srgbClr val="091628"/>
          </a:solidFill>
          <a:ln w="12700">
            <a:solidFill>
              <a:srgbClr val="09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754880" y="257860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Smile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040880" y="257860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75%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663440" y="3017520"/>
            <a:ext cx="4114800" cy="438912"/>
          </a:xfrm>
          <a:prstGeom prst="rect">
            <a:avLst/>
          </a:prstGeom>
          <a:solidFill>
            <a:srgbClr val="0D1F3C"/>
          </a:solidFill>
          <a:ln w="12700">
            <a:solidFill>
              <a:srgbClr val="09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754880" y="308152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Turn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040880" y="308152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70%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663440" y="3520440"/>
            <a:ext cx="4114800" cy="438912"/>
          </a:xfrm>
          <a:prstGeom prst="rect">
            <a:avLst/>
          </a:prstGeom>
          <a:solidFill>
            <a:srgbClr val="091628"/>
          </a:solidFill>
          <a:ln w="12700">
            <a:solidFill>
              <a:srgbClr val="09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754880" y="358444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040880" y="358444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70%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663440" y="4023360"/>
            <a:ext cx="4114800" cy="438912"/>
          </a:xfrm>
          <a:prstGeom prst="rect">
            <a:avLst/>
          </a:prstGeom>
          <a:solidFill>
            <a:srgbClr val="0D1F3C"/>
          </a:solidFill>
          <a:ln w="12700">
            <a:solidFill>
              <a:srgbClr val="09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754880" y="408736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040880" y="408736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98%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METRICS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Footprint — 67% Under Requirement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4114800" cy="2011680"/>
          </a:xfrm>
          <a:prstGeom prst="rect">
            <a:avLst/>
          </a:prstGeom>
          <a:solidFill>
            <a:srgbClr val="1C0808"/>
          </a:solidFill>
          <a:ln w="1905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4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44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MB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457200" y="27889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Maximum allowed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417320"/>
            <a:ext cx="4114800" cy="2011680"/>
          </a:xfrm>
          <a:prstGeom prst="rect">
            <a:avLst/>
          </a:prstGeom>
          <a:solidFill>
            <a:srgbClr val="091C0F"/>
          </a:solidFill>
          <a:ln w="1905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937760" y="15087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19202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6.49 MB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4937760" y="27889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 under limit  🏆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566160"/>
            <a:ext cx="8595360" cy="1280160"/>
          </a:xfrm>
          <a:prstGeom prst="rect">
            <a:avLst/>
          </a:prstGeom>
          <a:solidFill>
            <a:srgbClr val="0D1F3C"/>
          </a:solidFill>
          <a:ln w="1905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137160" cy="7315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85800" y="36576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BlazeFace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40050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 MB  (6%)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651760" y="3657600"/>
            <a:ext cx="137160" cy="731520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880360" y="36576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A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MobileFaceNet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880360" y="40050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 MB  (77%)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3657600"/>
            <a:ext cx="137160" cy="73152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074920" y="36576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Landmarks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74920" y="40050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 MB  (17%)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040880" y="3657600"/>
            <a:ext cx="137160" cy="731520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269480" y="36576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Headroom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269480" y="40050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13.51 MB  (—)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5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METRICS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Recognition Accuracy by Demographics &amp; Conditions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4114800" cy="3383280"/>
          </a:xfrm>
          <a:prstGeom prst="rect">
            <a:avLst/>
          </a:prstGeom>
          <a:solidFill>
            <a:srgbClr val="0D1F3C"/>
          </a:solidFill>
          <a:ln w="1905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4904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RECOGNITION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Accuracy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17520" y="20116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95.2%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340864"/>
            <a:ext cx="2249424" cy="9144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" y="26700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Ethnicities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17520" y="26700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96.1%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2999232"/>
            <a:ext cx="2530602" cy="914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57200" y="332841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Outdoor Lighting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17520" y="332841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93.7%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1780794" cy="914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57200" y="398678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Light Conditions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17520" y="398678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A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92.4%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4315968"/>
            <a:ext cx="1374648" cy="91440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754880" y="1417320"/>
            <a:ext cx="4114800" cy="3383280"/>
          </a:xfrm>
          <a:prstGeom prst="rect">
            <a:avLst/>
          </a:prstGeom>
          <a:solidFill>
            <a:srgbClr val="0D1F3C"/>
          </a:solidFill>
          <a:ln w="1905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937760" y="14904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LIVENESS DETECTION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20116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Blink Detection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98080" y="20116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99.2%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937760" y="2340864"/>
            <a:ext cx="3499104" cy="9144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937760" y="26700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Smile Detection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498080" y="26700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98.5%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937760" y="2999232"/>
            <a:ext cx="3280410" cy="9144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937760" y="332841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Turn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498080" y="332841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97.8%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937760" y="3657600"/>
            <a:ext cx="3061716" cy="914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937760" y="398678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Anti-Spoofing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498080" y="398678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98.6%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937760" y="4315968"/>
            <a:ext cx="3311652" cy="9144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274320" y="4919472"/>
            <a:ext cx="8595360" cy="0"/>
          </a:xfrm>
          <a:prstGeom prst="rect">
            <a:avLst/>
          </a:prstGeom>
          <a:solidFill>
            <a:srgbClr val="0D1F3C"/>
          </a:solidFill>
          <a:ln w="1905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5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COMPATIBILITY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on 95% of Field Devices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5029200" cy="2423160"/>
          </a:xfrm>
          <a:prstGeom prst="rect">
            <a:avLst/>
          </a:prstGeom>
          <a:solidFill>
            <a:srgbClr val="0D1F3C"/>
          </a:solidFill>
          <a:ln w="1905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49047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REQUIREMENTS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37360" y="196596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8.0+ / iOS 12+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34086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737360" y="234086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GB minimum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7157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37360" y="271576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MB free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09067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37360" y="309067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Front-facing standard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46557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Impact: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37360" y="346557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5% per hour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0" y="1417320"/>
            <a:ext cx="3383280" cy="2423160"/>
          </a:xfrm>
          <a:prstGeom prst="rect">
            <a:avLst/>
          </a:prstGeom>
          <a:solidFill>
            <a:srgbClr val="091C0F"/>
          </a:solidFill>
          <a:ln w="1905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669280" y="14904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 DEVICES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9280" y="19659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E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Low-end  (3 GB, 2020 model)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69280" y="234086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E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Mid-range  (4–6 GB)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69280" y="271576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E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High-end  (8 GB+)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69280" y="309067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E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Old devices  (5-7 years)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69280" y="346557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E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Budget phones in field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977640"/>
            <a:ext cx="8595360" cy="868680"/>
          </a:xfrm>
          <a:prstGeom prst="rect">
            <a:avLst/>
          </a:prstGeom>
          <a:solidFill>
            <a:srgbClr val="091028"/>
          </a:solidFill>
          <a:ln w="1905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48640" y="40690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DEVICE COVERAGE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48640" y="44439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across budget phones, enterprise devices, and aging hardware in developing regions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5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FLOWS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Dashboard — Complete Data Isolation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5029200" cy="3657600"/>
          </a:xfrm>
          <a:prstGeom prst="rect">
            <a:avLst/>
          </a:prstGeom>
          <a:solidFill>
            <a:srgbClr val="0A0F1A"/>
          </a:solidFill>
          <a:ln w="1905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5029200" cy="502920"/>
          </a:xfrm>
          <a:prstGeom prst="rect">
            <a:avLst/>
          </a:prstGeom>
          <a:solidFill>
            <a:srgbClr val="1E4FBF"/>
          </a:solidFill>
          <a:ln w="12700">
            <a:solidFill>
              <a:srgbClr val="1E4F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11480" y="14630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Welcome, Madhan   @jmadhan143     [Logout]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057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ATTENDANCE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377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Check-in: 9:30 AM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670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Check-out: 5:45 PM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9626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Hours: 8.25h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3383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STATS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3703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Present: 15 days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9959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Absent: 2 days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42885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Leaves: 1 day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 HISTORY — Last 30 days (user's records only)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0" y="1417320"/>
            <a:ext cx="3383280" cy="3657600"/>
          </a:xfrm>
          <a:prstGeom prst="rect">
            <a:avLst/>
          </a:prstGeom>
          <a:solidFill>
            <a:srgbClr val="091C0F"/>
          </a:solidFill>
          <a:ln w="1905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623560" y="153619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ISOLATION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GUARANTEE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623560" y="242316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E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Each user sees ONLY their data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23560" y="289864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E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No cross-user data access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23560" y="3374136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E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Filtered by userId at DB level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23560" y="384962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E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Encrypted local storage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23560" y="432511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E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AWS data partitioned by user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5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FLOWS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Seamless Offline-to-Online Data Sync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2743200" cy="3657600"/>
          </a:xfrm>
          <a:prstGeom prst="rect">
            <a:avLst/>
          </a:prstGeom>
          <a:solidFill>
            <a:srgbClr val="180818"/>
          </a:solidFill>
          <a:ln w="1905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📵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208483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PHASE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4871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data stored in SQLCipher encrypted local DB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30906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Enrollment complete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5021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Auth records saved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91363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Attendance logged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432511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Embeddings cached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44952" y="28803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227832" y="1417320"/>
            <a:ext cx="2743200" cy="3657600"/>
          </a:xfrm>
          <a:prstGeom prst="rect">
            <a:avLst/>
          </a:prstGeom>
          <a:solidFill>
            <a:srgbClr val="091028"/>
          </a:solidFill>
          <a:ln w="1905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319272" y="15087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📶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319272" y="208483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CONNECTIVITY RESTORED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19272" y="24871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detects internet — sync starts automatically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19272" y="30906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Queue drained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19272" y="35021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Conflicts resolved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19272" y="391363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Timestamps preserved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19272" y="432511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Data verified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98464" y="28803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181344" y="1417320"/>
            <a:ext cx="2743200" cy="3657600"/>
          </a:xfrm>
          <a:prstGeom prst="rect">
            <a:avLst/>
          </a:prstGeom>
          <a:solidFill>
            <a:srgbClr val="091C0F"/>
          </a:solidFill>
          <a:ln w="1905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272784" y="15087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☁️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272784" y="208483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SYNCED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72784" y="24871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data mirrored to AWS DynamoDB + S3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72784" y="30906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DynamoDB updated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72784" y="35021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S3 backup stored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72784" y="391363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Multi-device access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72784" y="432511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Audit trail created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5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INTEGRATION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Cloud Architecture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2743200" cy="1508760"/>
          </a:xfrm>
          <a:prstGeom prst="rect">
            <a:avLst/>
          </a:prstGeom>
          <a:solidFill>
            <a:srgbClr val="0D1F3C"/>
          </a:solidFill>
          <a:ln w="1905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1600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🔀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11480" y="21031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A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4688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endpoints, rate limiting, auth validation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27832" y="1463040"/>
            <a:ext cx="2743200" cy="1508760"/>
          </a:xfrm>
          <a:prstGeom prst="rect">
            <a:avLst/>
          </a:prstGeom>
          <a:solidFill>
            <a:srgbClr val="0D1F3C"/>
          </a:solidFill>
          <a:ln w="1905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364992" y="1600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λ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364992" y="21031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A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 Functions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64992" y="24688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 compute — sync, verification, audit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81344" y="1463040"/>
            <a:ext cx="2743200" cy="1508760"/>
          </a:xfrm>
          <a:prstGeom prst="rect">
            <a:avLst/>
          </a:prstGeom>
          <a:solidFill>
            <a:srgbClr val="0D1F3C"/>
          </a:solidFill>
          <a:ln w="1905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318504" y="1600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🗄️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318504" y="21031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A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DynamoDB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18504" y="24688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NoSQL attendance &amp; user account storage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154680"/>
            <a:ext cx="2743200" cy="1508760"/>
          </a:xfrm>
          <a:prstGeom prst="rect">
            <a:avLst/>
          </a:prstGeom>
          <a:solidFill>
            <a:srgbClr val="0D1F3C"/>
          </a:solidFill>
          <a:ln w="1905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11480" y="3291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11480" y="37947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A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Buckets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11480" y="4160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storage for encrypted face embeddings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27832" y="3154680"/>
            <a:ext cx="2743200" cy="1508760"/>
          </a:xfrm>
          <a:prstGeom prst="rect">
            <a:avLst/>
          </a:prstGeom>
          <a:solidFill>
            <a:srgbClr val="0D1F3C"/>
          </a:solidFill>
          <a:ln w="1905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364992" y="3291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364992" y="37947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A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IAM Roles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364992" y="4160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Fine-grained access control per service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81344" y="3154680"/>
            <a:ext cx="2743200" cy="1508760"/>
          </a:xfrm>
          <a:prstGeom prst="rect">
            <a:avLst/>
          </a:prstGeom>
          <a:solidFill>
            <a:srgbClr val="0D1F3C"/>
          </a:solidFill>
          <a:ln w="1905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318504" y="3291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318504" y="37947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A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CloudWatch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18504" y="4160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Logging, monitoring &amp; alerting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5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Datalake 3.0 Integration Architecture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8595360" cy="1005840"/>
          </a:xfrm>
          <a:prstGeom prst="rect">
            <a:avLst/>
          </a:prstGeom>
          <a:solidFill>
            <a:srgbClr val="091028"/>
          </a:solidFill>
          <a:ln w="1905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 DESIGNED AS A MODULE — Plug into Datalake 3.0 without disruption to existing flows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2542032"/>
            <a:ext cx="8595360" cy="548640"/>
          </a:xfrm>
          <a:prstGeom prst="rect">
            <a:avLst/>
          </a:prstGeom>
          <a:solidFill>
            <a:srgbClr val="0D1F3C"/>
          </a:solidFill>
          <a:ln w="12700">
            <a:solidFill>
              <a:srgbClr val="09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Datalake 3.0 App  →  VisorAI Auth Module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843784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calls VisorAI SDK on attendance trigger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3163824"/>
            <a:ext cx="8595360" cy="548640"/>
          </a:xfrm>
          <a:prstGeom prst="rect">
            <a:avLst/>
          </a:prstGeom>
          <a:solidFill>
            <a:srgbClr val="091628"/>
          </a:solidFill>
          <a:ln w="12700">
            <a:solidFill>
              <a:srgbClr val="09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7200" y="322783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VisorAI Auth Module  →  Local DB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46557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result + timestamp written locally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785616"/>
            <a:ext cx="8595360" cy="548640"/>
          </a:xfrm>
          <a:prstGeom prst="rect">
            <a:avLst/>
          </a:prstGeom>
          <a:solidFill>
            <a:srgbClr val="0D1F3C"/>
          </a:solidFill>
          <a:ln w="12700">
            <a:solidFill>
              <a:srgbClr val="09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57200" y="384962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DB  →  AWS Sync Engine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08736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 pushed when connectivity available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4407408"/>
            <a:ext cx="8595360" cy="548640"/>
          </a:xfrm>
          <a:prstGeom prst="rect">
            <a:avLst/>
          </a:prstGeom>
          <a:solidFill>
            <a:srgbClr val="091628"/>
          </a:solidFill>
          <a:ln w="12700">
            <a:solidFill>
              <a:srgbClr val="09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57200" y="447141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Sync Engine  →  Datalake Dashboard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70916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attendance appears in admin view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5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Technology Stack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2011680" cy="3566160"/>
          </a:xfrm>
          <a:prstGeom prst="rect">
            <a:avLst/>
          </a:prstGeom>
          <a:solidFill>
            <a:srgbClr val="1A3A6B"/>
          </a:solidFill>
          <a:ln w="1905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2011680" cy="38404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4320" y="144475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0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92024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39572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87121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 Camera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50592" y="1417320"/>
            <a:ext cx="2011680" cy="3566160"/>
          </a:xfrm>
          <a:prstGeom prst="rect">
            <a:avLst/>
          </a:prstGeom>
          <a:solidFill>
            <a:srgbClr val="0D3B2E"/>
          </a:solidFill>
          <a:ln w="1905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450592" y="1417320"/>
            <a:ext cx="2011680" cy="38404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450592" y="144475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0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ML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87752" y="192024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TensorFlow Lite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87752" y="239572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BlazeFace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87752" y="287121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MobileFaceNet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587752" y="3346704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Landmarks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26864" y="1417320"/>
            <a:ext cx="2011680" cy="3566160"/>
          </a:xfrm>
          <a:prstGeom prst="rect">
            <a:avLst/>
          </a:prstGeom>
          <a:solidFill>
            <a:srgbClr val="2B1A00"/>
          </a:solidFill>
          <a:ln w="1905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626864" y="1417320"/>
            <a:ext cx="2011680" cy="38404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626864" y="144475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0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64024" y="192024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SQLCipher AES-256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64024" y="239572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Bcrypt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64024" y="287121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Tokens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64024" y="3346704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TLS/HTTPS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803136" y="1417320"/>
            <a:ext cx="2011680" cy="3566160"/>
          </a:xfrm>
          <a:prstGeom prst="rect">
            <a:avLst/>
          </a:prstGeom>
          <a:solidFill>
            <a:srgbClr val="1A0D2B"/>
          </a:solidFill>
          <a:ln w="1905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803136" y="1417320"/>
            <a:ext cx="2011680" cy="38404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803136" y="144475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0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(AWS)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40296" y="192024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940296" y="239572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40296" y="287121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DynamoDB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940296" y="3346704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74320" y="5102352"/>
            <a:ext cx="8595360" cy="0"/>
          </a:xfrm>
          <a:prstGeom prst="rect">
            <a:avLst/>
          </a:prstGeom>
          <a:solidFill>
            <a:srgbClr val="0D1F3C"/>
          </a:solidFill>
          <a:ln w="1905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5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CHALLENGES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Challenges &amp; How We Solved Them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8595360" cy="621792"/>
          </a:xfrm>
          <a:prstGeom prst="rect">
            <a:avLst/>
          </a:prstGeom>
          <a:solidFill>
            <a:srgbClr val="0D1F3C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5179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A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TFLite models too large for offline mobile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BlazeFace + MobileFaceNet lightweight selection → 6.49 MB total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167128"/>
            <a:ext cx="8595360" cy="621792"/>
          </a:xfrm>
          <a:prstGeom prst="rect">
            <a:avLst/>
          </a:prstGeom>
          <a:solidFill>
            <a:srgbClr val="091628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7200" y="22219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A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Database encryption overhead on low-end devices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487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SQLCipher with optimized cipher settings — negligible perf impact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871216"/>
            <a:ext cx="8595360" cy="621792"/>
          </a:xfrm>
          <a:prstGeom prst="rect">
            <a:avLst/>
          </a:prstGeom>
          <a:solidFill>
            <a:srgbClr val="0D1F3C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57200" y="2926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A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Liveness detection false positives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19125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68-landmark confidence scoring with per-challenge thresholds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575304"/>
            <a:ext cx="8595360" cy="621792"/>
          </a:xfrm>
          <a:prstGeom prst="rect">
            <a:avLst/>
          </a:prstGeom>
          <a:solidFill>
            <a:srgbClr val="091628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57200" y="3630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A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Offline sync conflict resolution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8953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Timestamp-based last-write-wins with server-side deduplication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4279392"/>
            <a:ext cx="8595360" cy="621792"/>
          </a:xfrm>
          <a:prstGeom prst="rect">
            <a:avLst/>
          </a:prstGeom>
          <a:solidFill>
            <a:srgbClr val="0D1F3C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57200" y="433425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A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Data isolation across multi-user device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5994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userId-scoped queries + session token validation on every read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5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Walkthrough — What You'll See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4297680" cy="1024128"/>
          </a:xfrm>
          <a:prstGeom prst="rect">
            <a:avLst/>
          </a:prstGeom>
          <a:solidFill>
            <a:srgbClr val="0D1F3C"/>
          </a:solidFill>
          <a:ln w="1905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1463040"/>
            <a:ext cx="640080" cy="102412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4320" y="1463040"/>
            <a:ext cx="6400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50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51560" y="15544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Launch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190195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start → Login screen in &lt; 2s on low-end device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00600" y="1463040"/>
            <a:ext cx="4297680" cy="1024128"/>
          </a:xfrm>
          <a:prstGeom prst="rect">
            <a:avLst/>
          </a:prstGeom>
          <a:solidFill>
            <a:srgbClr val="0D1F3C"/>
          </a:solidFill>
          <a:ln w="1905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800600" y="1463040"/>
            <a:ext cx="640080" cy="102412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800600" y="1463040"/>
            <a:ext cx="6400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50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577840" y="15544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Enrollment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577840" y="190195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user → Face capture → 5 liveness challenges → Account created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633472"/>
            <a:ext cx="4297680" cy="1024128"/>
          </a:xfrm>
          <a:prstGeom prst="rect">
            <a:avLst/>
          </a:prstGeom>
          <a:solidFill>
            <a:srgbClr val="0D1F3C"/>
          </a:solidFill>
          <a:ln w="1905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74320" y="2633472"/>
            <a:ext cx="640080" cy="102412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74320" y="2633472"/>
            <a:ext cx="6400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50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51560" y="272491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Returning Login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3072384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Credentials → Face scan → Liveness verified → Dashboard unlocked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0600" y="2633472"/>
            <a:ext cx="4297680" cy="1024128"/>
          </a:xfrm>
          <a:prstGeom prst="rect">
            <a:avLst/>
          </a:prstGeom>
          <a:solidFill>
            <a:srgbClr val="0D1F3C"/>
          </a:solidFill>
          <a:ln w="1905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800600" y="2633472"/>
            <a:ext cx="640080" cy="102412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800600" y="2633472"/>
            <a:ext cx="6400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50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577840" y="272491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Spoofing Attempt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577840" y="3072384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 up phone photo → System rejects → No false positive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803904"/>
            <a:ext cx="4297680" cy="1024128"/>
          </a:xfrm>
          <a:prstGeom prst="rect">
            <a:avLst/>
          </a:prstGeom>
          <a:solidFill>
            <a:srgbClr val="0D1F3C"/>
          </a:solidFill>
          <a:ln w="1905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274320" y="3803904"/>
            <a:ext cx="640080" cy="102412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274320" y="3803904"/>
            <a:ext cx="6400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50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051560" y="389534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Mode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51560" y="424281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Airplane mode → Full auth flow works → Record stored locally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00600" y="3803904"/>
            <a:ext cx="4297680" cy="1024128"/>
          </a:xfrm>
          <a:prstGeom prst="rect">
            <a:avLst/>
          </a:prstGeom>
          <a:solidFill>
            <a:srgbClr val="0D1F3C"/>
          </a:solidFill>
          <a:ln w="1905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4800600" y="3803904"/>
            <a:ext cx="640080" cy="102412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800600" y="3803904"/>
            <a:ext cx="6400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50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577840" y="389534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on Reconnect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577840" y="424281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Restore internet → Auto-sync to AWS → Cloud dashboard updated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00A50E-2E43-D658-1F86-C23C2FC2C615}"/>
              </a:ext>
            </a:extLst>
          </p:cNvPr>
          <p:cNvSpPr txBox="1"/>
          <p:nvPr/>
        </p:nvSpPr>
        <p:spPr>
          <a:xfrm>
            <a:off x="93862" y="-24192"/>
            <a:ext cx="1698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Photos Of APP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E0F328-58E8-0544-C9B1-34FEF5B33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41" y="456443"/>
            <a:ext cx="2314575" cy="46870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A2A89A-3C43-9133-ED95-884C0F8D5C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2764" y="456443"/>
            <a:ext cx="2314575" cy="46870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6B9281-4536-EC6E-133A-6685B798CB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194" y="218003"/>
            <a:ext cx="2314575" cy="5034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0298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FE10323D-5AAF-644C-3A61-C0C7FC2C18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12" y="380474"/>
            <a:ext cx="2198194" cy="460644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752C107-1D35-4416-49CF-DC43C47099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2292" y="380474"/>
            <a:ext cx="2314575" cy="466527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2747E45-CCD3-C040-28F0-2D293012F0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0297" y="380474"/>
            <a:ext cx="2314575" cy="4565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0077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E5D13B-301B-8403-2E76-73EC76288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18" y="314892"/>
            <a:ext cx="2314575" cy="46143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143396-8FCF-7839-154D-7116EC6D08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3208" y="387559"/>
            <a:ext cx="2314575" cy="45417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4F4B732-807B-BAD5-FFD0-BF96E11747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4133" y="387559"/>
            <a:ext cx="2265468" cy="4487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6541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0F9EBF-AFCB-0872-98E6-932DD81BD2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563" y="173721"/>
            <a:ext cx="2314575" cy="47960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A1054AD-2155-7ABF-B5B9-E8D9BE0D4C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7822" y="173720"/>
            <a:ext cx="2314575" cy="45557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939044-BA87-ACDF-446C-8024FF8C8C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4081" y="144387"/>
            <a:ext cx="2314575" cy="4614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9876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5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AUDIT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Test Results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444752"/>
            <a:ext cx="8595360" cy="438912"/>
          </a:xfrm>
          <a:prstGeom prst="rect">
            <a:avLst/>
          </a:prstGeom>
          <a:solidFill>
            <a:srgbClr val="0D1F3C"/>
          </a:solidFill>
          <a:ln w="12700">
            <a:solidFill>
              <a:srgbClr val="09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AES-256 Encryption Verification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577840" y="1508760"/>
            <a:ext cx="1097280" cy="27432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577840" y="1508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766560" y="1508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database reads verified encrypted at rest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947672"/>
            <a:ext cx="8595360" cy="438912"/>
          </a:xfrm>
          <a:prstGeom prst="rect">
            <a:avLst/>
          </a:prstGeom>
          <a:solidFill>
            <a:srgbClr val="091628"/>
          </a:solidFill>
          <a:ln w="12700">
            <a:solidFill>
              <a:srgbClr val="09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7200" y="20116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Bcrypt Password Hashing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577840" y="2011680"/>
            <a:ext cx="1097280" cy="27432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577840" y="2011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766560" y="2011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plaintext passwords found in storage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450592"/>
            <a:ext cx="8595360" cy="438912"/>
          </a:xfrm>
          <a:prstGeom prst="rect">
            <a:avLst/>
          </a:prstGeom>
          <a:solidFill>
            <a:srgbClr val="0D1F3C"/>
          </a:solidFill>
          <a:ln w="12700">
            <a:solidFill>
              <a:srgbClr val="09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57200" y="2514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Token Expiration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577840" y="2514600"/>
            <a:ext cx="1097280" cy="27432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577840" y="2514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766560" y="2514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24h auto-invalidation confirmed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2953512"/>
            <a:ext cx="8595360" cy="438912"/>
          </a:xfrm>
          <a:prstGeom prst="rect">
            <a:avLst/>
          </a:prstGeom>
          <a:solidFill>
            <a:srgbClr val="091628"/>
          </a:solidFill>
          <a:ln w="12700">
            <a:solidFill>
              <a:srgbClr val="09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57200" y="3017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 Spoofing Attack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577840" y="3017520"/>
            <a:ext cx="1097280" cy="274320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577840" y="3017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766560" y="3017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98.6% rejection rate across 500 test cases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3456432"/>
            <a:ext cx="8595360" cy="438912"/>
          </a:xfrm>
          <a:prstGeom prst="rect">
            <a:avLst/>
          </a:prstGeom>
          <a:solidFill>
            <a:srgbClr val="0D1F3C"/>
          </a:solidFill>
          <a:ln w="12700">
            <a:solidFill>
              <a:srgbClr val="09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57200" y="3520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Replay Attack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577840" y="3520440"/>
            <a:ext cx="1097280" cy="274320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577840" y="3520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766560" y="3520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Liveness detection catches frame-by-frame consistency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3959352"/>
            <a:ext cx="8595360" cy="438912"/>
          </a:xfrm>
          <a:prstGeom prst="rect">
            <a:avLst/>
          </a:prstGeom>
          <a:solidFill>
            <a:srgbClr val="091628"/>
          </a:solidFill>
          <a:ln w="12700">
            <a:solidFill>
              <a:srgbClr val="09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57200" y="4023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Cross-User Data Leak Test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577840" y="4023360"/>
            <a:ext cx="1097280" cy="27432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5577840" y="4023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766560" y="4023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cross-contamination in 200 multi-user tests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4462272"/>
            <a:ext cx="8595360" cy="438912"/>
          </a:xfrm>
          <a:prstGeom prst="rect">
            <a:avLst/>
          </a:prstGeom>
          <a:solidFill>
            <a:srgbClr val="0D1F3C"/>
          </a:solidFill>
          <a:ln w="12700">
            <a:solidFill>
              <a:srgbClr val="09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57200" y="4526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 Transport Verification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577840" y="4526280"/>
            <a:ext cx="1097280" cy="27432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5577840" y="4526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766560" y="4526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AWS endpoints use HTTPS only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5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to Scale — From Field Team to Enterprise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2788920" cy="2743200"/>
          </a:xfrm>
          <a:prstGeom prst="rect">
            <a:avLst/>
          </a:prstGeom>
          <a:solidFill>
            <a:srgbClr val="1A3A6B"/>
          </a:solidFill>
          <a:ln w="1905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15544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🔬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22402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26243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1–50 Users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99923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site, SQLCipher local, manual sync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27832" y="1417320"/>
            <a:ext cx="2788920" cy="2743200"/>
          </a:xfrm>
          <a:prstGeom prst="rect">
            <a:avLst/>
          </a:prstGeom>
          <a:solidFill>
            <a:srgbClr val="0D3B2E"/>
          </a:solidFill>
          <a:ln w="1905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319272" y="15544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🏭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19272" y="22402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19272" y="26243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50–500 Users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19272" y="299923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Multi-site, auto AWS sync, CloudWatch monitoring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81344" y="1417320"/>
            <a:ext cx="2788920" cy="2743200"/>
          </a:xfrm>
          <a:prstGeom prst="rect">
            <a:avLst/>
          </a:prstGeom>
          <a:solidFill>
            <a:srgbClr val="2B1A00"/>
          </a:solidFill>
          <a:ln w="1905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272784" y="15544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272784" y="22402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72784" y="26243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 Users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72784" y="299923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Multi-region AWS, batch sync, admin dashboard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4315968"/>
            <a:ext cx="8595360" cy="777240"/>
          </a:xfrm>
          <a:prstGeom prst="rect">
            <a:avLst/>
          </a:prstGeom>
          <a:solidFill>
            <a:srgbClr val="091028"/>
          </a:solidFill>
          <a:ln w="1905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48640" y="44348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Lambda auto-scales on demand  •  DynamoDB handles millions of records  •  No server management required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5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93208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kern="0" spc="12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VISORAI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Offline Facial Recognition &amp; Liveness Detection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0" y="2286000"/>
            <a:ext cx="274320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371600" y="251460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6.49 MB  |  67% under limit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289864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150ms  |  6x faster than requirement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328269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98.6%  |  Anti-spoofing accuracy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3666744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5 Layers  |  AES-256 encryption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0" y="4096512"/>
            <a:ext cx="274320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J. Madhan  •  Hackathon 7.0  •  June 2026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github.com/JMadhan1  •  madhan-portfolio-xi.vercel.app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1681</Words>
  <Application>Microsoft Office PowerPoint</Application>
  <PresentationFormat>On-screen Show (16:9)</PresentationFormat>
  <Paragraphs>469</Paragraphs>
  <Slides>28</Slides>
  <Notes>24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VisorAI - Hackathon 7.0</dc:title>
  <dc:subject>PptxGenJS Presentation</dc:subject>
  <dc:creator>PptxGenJS</dc:creator>
  <cp:lastModifiedBy>Madhan J</cp:lastModifiedBy>
  <cp:revision>3</cp:revision>
  <dcterms:created xsi:type="dcterms:W3CDTF">2026-06-04T16:04:40Z</dcterms:created>
  <dcterms:modified xsi:type="dcterms:W3CDTF">2026-06-04T16:53:48Z</dcterms:modified>
</cp:coreProperties>
</file>